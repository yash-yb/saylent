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demand</c:v>
                </c:pt>
              </c:strCache>
            </c:strRef>
          </c:tx>
          <c:spPr>
            <a:solidFill>
              <a:srgbClr val="22D3EE"/>
            </a:solidFill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D1</c:v>
                  </c:pt>
                  <c:pt idx="1">
                    <c:v>D3</c:v>
                  </c:pt>
                  <c:pt idx="2">
                    <c:v>D5</c:v>
                  </c:pt>
                  <c:pt idx="3">
                    <c:v>D7</c:v>
                  </c:pt>
                  <c:pt idx="4">
                    <c:v>D9</c:v>
                  </c:pt>
                  <c:pt idx="5">
                    <c:v>D11</c:v>
                  </c:pt>
                  <c:pt idx="6">
                    <c:v>D13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9.1</c:v>
                </c:pt>
                <c:pt idx="1">
                  <c:v>9.5</c:v>
                </c:pt>
                <c:pt idx="2">
                  <c:v>9.9</c:v>
                </c:pt>
                <c:pt idx="3">
                  <c:v>10.3</c:v>
                </c:pt>
                <c:pt idx="4">
                  <c:v>10.7</c:v>
                </c:pt>
                <c:pt idx="5">
                  <c:v>11.1</c:v>
                </c:pt>
                <c:pt idx="6">
                  <c:v>11.5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6"/>
        </a:solidFill>
        <a:ln>
          <a:noFill/>
        </a:ln>
        <a:effectLst/>
      </c:spPr>
    </c:plotArea>
    <c:plotVisOnly val="1"/>
    <c:dispBlanksAs val="span"/>
  </c:chart>
  <c:spPr>
    <a:solidFill>
      <a:srgbClr val="0F152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remaining</c:v>
                </c:pt>
              </c:strCache>
            </c:strRef>
          </c:tx>
          <c:spPr>
            <a:solidFill>
              <a:srgbClr val="F43F5E"/>
            </a:solidFill>
            <a:ln w="25400" cap="flat">
              <a:solidFill>
                <a:srgbClr val="F43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D0</c:v>
                  </c:pt>
                  <c:pt idx="1">
                    <c:v>D2</c:v>
                  </c:pt>
                  <c:pt idx="2">
                    <c:v>D4</c:v>
                  </c:pt>
                  <c:pt idx="3">
                    <c:v>D6</c:v>
                  </c:pt>
                  <c:pt idx="4">
                    <c:v>D8</c:v>
                  </c:pt>
                  <c:pt idx="5">
                    <c:v>D10</c:v>
                  </c:pt>
                  <c:pt idx="6">
                    <c:v>D12</c:v>
                  </c:pt>
                  <c:pt idx="7">
                    <c:v>D14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18.5</c:v>
                </c:pt>
                <c:pt idx="1">
                  <c:v>15.2</c:v>
                </c:pt>
                <c:pt idx="2">
                  <c:v>11.8</c:v>
                </c:pt>
                <c:pt idx="3">
                  <c:v>8.5</c:v>
                </c:pt>
                <c:pt idx="4">
                  <c:v>5.1</c:v>
                </c:pt>
                <c:pt idx="5">
                  <c:v>1.8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6"/>
        </a:solidFill>
        <a:ln>
          <a:noFill/>
        </a:ln>
        <a:effectLst/>
      </c:spPr>
    </c:plotArea>
    <c:plotVisOnly val="1"/>
    <c:dispBlanksAs val="span"/>
  </c:chart>
  <c:spPr>
    <a:solidFill>
      <a:srgbClr val="0F1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'Team Name' and Problem ID with your actual submission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 team, GitHub, and demo-link fields before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822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HACKATHON 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Smart Health &amp; Supply Chain Resilience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AI Platform for </a:t>
            </a:r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PHC Network Resilience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medicine stock, bed, and staff visibility across an entire national PHC network — with demand forecasting, early stockout warnings, and AI-recommended cross-district redistribution, powered by privacy-preserving federated learning across BRICS nations.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623560"/>
            <a:ext cx="3840480" cy="0"/>
          </a:xfrm>
          <a:prstGeom prst="line">
            <a:avLst/>
          </a:prstGeom>
          <a:noFill/>
          <a:ln w="12700">
            <a:solidFill>
              <a:srgbClr val="1C27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Problem ID: [Insert ID]  ·  30 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healthcare supply chains break down exactly when they matter most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988820"/>
            <a:ext cx="502920" cy="5029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154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06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stock, bed availability, and staff attendance across vast PHC networks are tracked on paper or in disconnected local systems.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3660" y="19888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366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stock-outs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early warning, PHCs run out of essential medicines mid-emergency, with no visibility into which nearby facility has surplus.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" y="436626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" y="4366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15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demand forecasting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834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procurement instead of predictive — nobody sees a stock-out coming until the shelf is already empty.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3660" y="43662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3660" y="4366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315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Siloed data, no shared learning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834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and nations can't pool predictive patterns without compromising data sovereignty and patient privacy.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federated platform that gives every level — PHC, district, state, nation —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real-time truth.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21742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Visibility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medicine stock, bed occupancy, and staff attendance for every PHC, rolled up to district and national dashboards.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217420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per-medicine, per-PHC demand projections with predicted stock-out dates, using consumption history.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2174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Alerts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stock-out, bed-capacity, and staff-attendance alerts generated before a crisis, not after.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0" y="221742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4984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Redistribution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cross-district transfers from surplus PHCs to at-risk PHCs, with one-click approval.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binds all four pillars together — the aggregated model, never raw PHC data, crosses district or national boundaries.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straightforward, auditable pipeline from ground-truth PHC data to national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stock entry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logs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staff status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02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502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DB / Postgres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02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6294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220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220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averaging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220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engine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6012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34D39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012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840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938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7840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8938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drill-down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840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938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approvals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containerized (Docker Compose) per nation · SQLite for demo, Postgres-ready for production · zero cross-border raw-data transfer.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Learning, Not Centralised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Project pools predictive power across districts and BRICS nations without moving a single patient record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2788920"/>
            <a:ext cx="0" cy="502920"/>
          </a:xfrm>
          <a:prstGeom prst="line">
            <a:avLst/>
          </a:prstGeom>
          <a:noFill/>
          <a:ln w="19050">
            <a:solidFill>
              <a:srgbClr val="8B96A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71800" y="1783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86200" y="2788920"/>
            <a:ext cx="0" cy="502920"/>
          </a:xfrm>
          <a:prstGeom prst="line">
            <a:avLst/>
          </a:prstGeom>
          <a:noFill/>
          <a:ln w="19050">
            <a:solidFill>
              <a:srgbClr val="8B96A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212080" y="1783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788920"/>
            <a:ext cx="0" cy="502920"/>
          </a:xfrm>
          <a:prstGeom prst="line">
            <a:avLst/>
          </a:prstGeom>
          <a:noFill/>
          <a:ln w="19050">
            <a:solidFill>
              <a:srgbClr val="8B96A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743200" y="333756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Aggregator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(weights only)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4160520"/>
            <a:ext cx="0" cy="5029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46634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0F1526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23160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 Model → blended back into every PHC's local forecast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178308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crosses the boundary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08976" y="2496312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08976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4688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(slope, intercept, sample count) — three numbers per medicine, per district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08976" y="3209544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08976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1821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patient-level or raw stock/consumption records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08976" y="392277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0897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8953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Sample-weighted averaging — sparse districts still contribute, without drowning out data-rich ones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08976" y="463600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08976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6085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logged (FederatedModelRound) for full auditability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live-clickable prototype — not just a mockup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48840" y="21488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2148840"/>
            <a:ext cx="9601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2219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688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063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Belagavi — 53% stock health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337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Bengaluru Rural — 54%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611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Gaya — 61%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Demand Forecast — Paracetamol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355080" y="2057400"/>
          <a:ext cx="50292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4008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4251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Feed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68680" y="46634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46634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874520" y="4663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Anti-Malarial (ACT) at Bengaluru Rural PHC-3 — stockout in 5 days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" y="51206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1206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874520" y="51206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at Patna PHC-2 — 93% capacity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68680" y="55778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55778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874520" y="5577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attendance at Nagpur PHC-1 — 67% of roster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172200" y="4114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Recommendation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PHC-2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275320" y="4800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248.4 units →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55548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Belagavi PHC-4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44652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500mg · surplus at source vs. projected shortfall within lead time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446520" y="56692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46520" y="5669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live demo published separately — click through national, district, alert, redistribution, and federated-learning views.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speed to national scale, transparency, and zero vendor lock-in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6732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Holt trend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6732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FedAvg aggregator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6732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redistribution solver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22D3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0196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34D39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2688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3660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2688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3660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OpenAPI/Swagger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2688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3660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CORS-enabled API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layers verified running end-to-end during development: seeded data → forecasts → alerts → redistribution recommendations → dashboard.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Forecast Actually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math — not a black box a health officer has to trust blindly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8660" y="176022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8660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trend fit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691640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linear-trend smoothing on each PHC's own daily dispensed quantity — a level (today's typical use) plus a trend (rising/falling).</a:t>
            </a:r>
            <a:endParaRPr lang="en-US" sz="100" dirty="0"/>
          </a:p>
        </p:txBody>
      </p:sp>
      <p:sp>
        <p:nvSpPr>
          <p:cNvPr id="8" name="Shape 6"/>
          <p:cNvSpPr/>
          <p:nvPr/>
        </p:nvSpPr>
        <p:spPr>
          <a:xfrm>
            <a:off x="708660" y="2601468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" y="26014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328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blend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32888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district-level trend is combined with the FedAvg global trend (30% weight), so short-history PHCs borrow signal from the national pattern.</a:t>
            </a:r>
            <a:endParaRPr lang="en-US" sz="100" dirty="0"/>
          </a:p>
        </p:txBody>
      </p:sp>
      <p:sp>
        <p:nvSpPr>
          <p:cNvPr id="12" name="Shape 10"/>
          <p:cNvSpPr/>
          <p:nvPr/>
        </p:nvSpPr>
        <p:spPr>
          <a:xfrm>
            <a:off x="708660" y="3442716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8660" y="34427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37413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14-day projection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74136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trend projects daily demand forward two weeks; cumulative demand is subtracted from current stock day-by-day.</a:t>
            </a:r>
            <a:endParaRPr lang="en-US" sz="100" dirty="0"/>
          </a:p>
        </p:txBody>
      </p:sp>
      <p:sp>
        <p:nvSpPr>
          <p:cNvPr id="16" name="Shape 14"/>
          <p:cNvSpPr/>
          <p:nvPr/>
        </p:nvSpPr>
        <p:spPr>
          <a:xfrm>
            <a:off x="708660" y="4283964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" y="42839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153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 date + alert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215384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stock would first go negative becomes the predicted stockout date; if that falls inside the medicine's procurement lead time, an alert fires automatically.</a:t>
            </a:r>
            <a:endParaRPr lang="en-US" sz="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1691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linear-trend smoothing on each PHC's own daily dispensed quantity — a level (today's typical use) plus a trend (rising/falling).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25328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district-level trend is combined with the FedAvg global trend (30% weight), so short-history PHCs borrow signal from the national pattern.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3741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trend projects daily demand forward two weeks; cumulative demand is subtracted from current stock day-by-day.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21538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stock would first go negative becomes the predicted stockout date; if that falls inside the medicine's procurement lead time, an alert fires automatically.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23960" y="1508760"/>
            <a:ext cx="3108960" cy="3657600"/>
          </a:xfrm>
          <a:prstGeom prst="roundRect">
            <a:avLst>
              <a:gd name="adj" fmla="val 294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154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Insulin @ Belagavi PHC-2</a:t>
            </a:r>
            <a:endParaRPr 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9006840" y="1965960"/>
          <a:ext cx="2743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891540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stockout: Day 12 → alert fires (lead time 5d)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BRICS Scalability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national platform from day one — not a single-district tool retrofitted later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→ 150,000+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 the same schema and pipeline can scale to nationally, unchanged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→ 5+ nations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BRICS members onboard by standing up one more federated node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numbers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medicine, per district — that's the entire cross-boundary data payload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days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visibility into demand, replacing reactive, after-the-fact procurement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federation matters for BRICS specifically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31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nation keeps full sovereignty over its own health data — a hard requirement across BRICS jurisdictions.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480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seasonal / epidemiological demand patterns (e.g. monsoon-driven disease spikes) improve every nation's forecast without a shared database.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029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FedAvg mechanism generalises from cross-district (this demo) to cross-nation with no architecture change.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a live, multi-nation resilience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25400">
            <a:solidFill>
              <a:srgbClr val="1C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8830" y="3154680"/>
            <a:ext cx="274320" cy="274320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7270" y="18745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871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Prototype (Now)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08710" y="2286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demo: forecasting, FedAvg, redistribution, dashboards — running on realistic mock PHC data.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05990" y="2926080"/>
            <a:ext cx="0" cy="365760"/>
          </a:xfrm>
          <a:prstGeom prst="line">
            <a:avLst/>
          </a:prstGeom>
          <a:noFill/>
          <a:ln w="12700">
            <a:solidFill>
              <a:srgbClr val="22D3E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652010" y="3154680"/>
            <a:ext cx="274320" cy="274320"/>
          </a:xfrm>
          <a:prstGeom prst="ellipse">
            <a:avLst/>
          </a:prstGeom>
          <a:solidFill>
            <a:srgbClr val="6366F1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0450" y="36576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9189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Single-State Pilot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91890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1 state's real PHC reporting (manual entry app + CSV import), validate forecasts against real consumption.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89170" y="3291840"/>
            <a:ext cx="0" cy="365760"/>
          </a:xfrm>
          <a:prstGeom prst="line">
            <a:avLst/>
          </a:prstGeom>
          <a:noFill/>
          <a:ln w="12700">
            <a:solidFill>
              <a:srgbClr val="6366F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235190" y="3154680"/>
            <a:ext cx="274320" cy="27432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3630" y="18745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507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National Rollout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75070" y="2286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nightly compute cycle; district health officer training; mobile reporting app for PHC staff.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72350" y="2926080"/>
            <a:ext cx="0" cy="3657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818370" y="3154680"/>
            <a:ext cx="274320" cy="274320"/>
          </a:xfrm>
          <a:prstGeom prst="ellipse">
            <a:avLst/>
          </a:prstGeom>
          <a:solidFill>
            <a:srgbClr val="34D399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6810" y="36576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5825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Cross-BRICS Federation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58250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nation runs its own instance; shared FedAvg aggregator endpoint; joint epidemiological early-warning.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955530" y="3291840"/>
            <a:ext cx="0" cy="365760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&amp; Governance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supply decisions stay human-approved — the AI recommends, it never acts alone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20345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154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redistribution recommendation requires explicit district-officer approval before any stock is moved — no autonomous transfers.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3660" y="20345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366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 by design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PHC records never leave their district database; only aggregated model weights are exchanged, satisfying cross-nation data-residency rules.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" y="42291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800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federated round is logged (medicine, districts involved, resulting global model) so any forecast can be traced and explained.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3660" y="422910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3660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methodology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800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trend model and greedy matching were chosen because they can be explained in one sentence to a non-technical health administrator — no unexplainable black boxes.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BRICS Track 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pPr indent="0" marL="0">
              <a:buNone/>
            </a:pPr>
            <a:r>
              <a:rPr lang="en-US" sz="16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federated AI for national health supply chain resilience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840480" cy="0"/>
          </a:xfrm>
          <a:prstGeom prst="line">
            <a:avLst/>
          </a:prstGeom>
          <a:noFill/>
          <a:ln w="12700">
            <a:solidFill>
              <a:srgbClr val="1C27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[Add member names]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github.com/yash-yb/saylent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937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Project interactive demo (see submission notes)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5440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Hackathon 2026 · Track 3 · Smart Health &amp; Supply Chain Resilience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2026-09-27T14:59:39Z</dcterms:created>
  <dcterms:modified xsi:type="dcterms:W3CDTF">2026-09-27T14:59:39Z</dcterms:modified>
</cp:coreProperties>
</file>