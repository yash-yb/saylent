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demand</c:v>
                </c:pt>
              </c:strCache>
            </c:strRef>
          </c:tx>
          <c:spPr>
            <a:solidFill>
              <a:srgbClr val="22D3EE"/>
            </a:solidFill>
            <a:ln w="31750" cap="flat">
              <a:solidFill>
                <a:srgbClr val="22D3E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D1</c:v>
                  </c:pt>
                  <c:pt idx="1">
                    <c:v>D3</c:v>
                  </c:pt>
                  <c:pt idx="2">
                    <c:v>D5</c:v>
                  </c:pt>
                  <c:pt idx="3">
                    <c:v>D7</c:v>
                  </c:pt>
                  <c:pt idx="4">
                    <c:v>D9</c:v>
                  </c:pt>
                  <c:pt idx="5">
                    <c:v>D11</c:v>
                  </c:pt>
                  <c:pt idx="6">
                    <c:v>D13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9.1</c:v>
                </c:pt>
                <c:pt idx="1">
                  <c:v>9.5</c:v>
                </c:pt>
                <c:pt idx="2">
                  <c:v>9.9</c:v>
                </c:pt>
                <c:pt idx="3">
                  <c:v>10.3</c:v>
                </c:pt>
                <c:pt idx="4">
                  <c:v>10.7</c:v>
                </c:pt>
                <c:pt idx="5">
                  <c:v>11.1</c:v>
                </c:pt>
                <c:pt idx="6">
                  <c:v>11.5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C2740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96A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1C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C2740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96A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526"/>
        </a:solidFill>
        <a:ln>
          <a:noFill/>
        </a:ln>
        <a:effectLst/>
      </c:spPr>
    </c:plotArea>
    <c:plotVisOnly val="1"/>
    <c:dispBlanksAs val="span"/>
  </c:chart>
  <c:spPr>
    <a:solidFill>
      <a:srgbClr val="0F152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 remaining</c:v>
                </c:pt>
              </c:strCache>
            </c:strRef>
          </c:tx>
          <c:spPr>
            <a:solidFill>
              <a:srgbClr val="F43F5E"/>
            </a:solidFill>
            <a:ln w="25400" cap="flat">
              <a:solidFill>
                <a:srgbClr val="F43F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F43F5E"/>
              </a:solidFill>
              <a:ln w="9525" cap="flat">
                <a:solidFill>
                  <a:srgbClr val="F43F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D0</c:v>
                  </c:pt>
                  <c:pt idx="1">
                    <c:v>D2</c:v>
                  </c:pt>
                  <c:pt idx="2">
                    <c:v>D4</c:v>
                  </c:pt>
                  <c:pt idx="3">
                    <c:v>D6</c:v>
                  </c:pt>
                  <c:pt idx="4">
                    <c:v>D8</c:v>
                  </c:pt>
                  <c:pt idx="5">
                    <c:v>D10</c:v>
                  </c:pt>
                  <c:pt idx="6">
                    <c:v>D12</c:v>
                  </c:pt>
                  <c:pt idx="7">
                    <c:v>D14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18.5</c:v>
                </c:pt>
                <c:pt idx="1">
                  <c:v>15.2</c:v>
                </c:pt>
                <c:pt idx="2">
                  <c:v>11.8</c:v>
                </c:pt>
                <c:pt idx="3">
                  <c:v>8.5</c:v>
                </c:pt>
                <c:pt idx="4">
                  <c:v>5.1</c:v>
                </c:pt>
                <c:pt idx="5">
                  <c:v>1.8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C2740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8B96A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1C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C2740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8B96A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526"/>
        </a:solidFill>
        <a:ln>
          <a:noFill/>
        </a:ln>
        <a:effectLst/>
      </c:spPr>
    </c:plotArea>
    <c:plotVisOnly val="1"/>
    <c:dispBlanksAs val="span"/>
  </c:chart>
  <c:spPr>
    <a:solidFill>
      <a:srgbClr val="0F15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'Team Name' and Problem ID with your actual submission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placeholder team, GitHub, and demo-link fields before final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70D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114800"/>
            <a:ext cx="5029200" cy="50292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2296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131B2E"/>
          </a:solidFill>
          <a:ln w="12700">
            <a:solidFill>
              <a:srgbClr val="131B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822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BRICS HACKATHON 2026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· Smart Health &amp; Supply Chain Resilience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Saylent</a:t>
            </a:r>
            <a:endParaRPr lang="en-US" sz="6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Federated AI Platform for </a:t>
            </a:r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PHC Network Resilience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3434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medicine stock, bed, and staff visibility across an entire national PHC network — with demand forecasting, early stockout warnings, and AI-recommended cross-district redistribution, powered by privacy-preserving federated learning across BRICS nations.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5623560"/>
            <a:ext cx="3840480" cy="0"/>
          </a:xfrm>
          <a:prstGeom prst="line">
            <a:avLst/>
          </a:prstGeom>
          <a:noFill/>
          <a:ln w="12700">
            <a:solidFill>
              <a:srgbClr val="1C27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·  Problem ID: [Insert ID]  ·  30 September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healthcare supply chains break down exactly when they matter most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" y="1988820"/>
            <a:ext cx="502920" cy="50292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1540" y="19888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38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real-time visibility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060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stock, bed availability, and staff attendance across vast PHC networks are tracked on paper or in disconnected local systems.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3660" y="19888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23660" y="19888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938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 stock-outs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060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early warning, PHCs run out of essential medicines mid-emergency, with no visibility into which nearby facility has surplus.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" y="436626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1540" y="43662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315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demand forecasting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9834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procurement instead of predictive — nobody sees a stock-out coming until the shelf is already empty.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11480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3660" y="436626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23660" y="43662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315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Siloed data, no shared learning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9834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and nations can't pool predictive patterns without compromising data sovereignty and patient privacy.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Saylent — BRICS Track 3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federated platform that gives every level — PHC, district, state, nation —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real-time truth.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0F1526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2217420"/>
            <a:ext cx="594360" cy="5943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45920" y="22174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Visibility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0332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medicine stock, bed occupancy, and staff attendance for every PHC, rolled up to district and national dashboards.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0F1526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217420"/>
            <a:ext cx="594360" cy="5943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80560" y="22174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Forecasting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370332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per-medicine, per-PHC demand projections with predicted stock-out dates, using consumption history.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0F1526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221742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0" y="22174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Early-Warning Alerts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70332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stock-out, bed-capacity, and staff-attendance alerts generated before a crisis, not after.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0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0F1526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49840" y="2217420"/>
            <a:ext cx="594360" cy="5943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149840" y="22174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Redistribution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370332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cross-district transfers from surplus PHCs to at-risk PHCs, with one-click approval.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binds all four pillars together — the aggregated model, never raw PHC data, crosses district or national boundaries.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Saylent — BRICS Track 3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straightforward, auditable pipeline from ground-truth PHC data to national decisions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468880" cy="4206240"/>
          </a:xfrm>
          <a:prstGeom prst="roundRect">
            <a:avLst>
              <a:gd name="adj" fmla="val 3704"/>
            </a:avLst>
          </a:prstGeom>
          <a:solidFill>
            <a:srgbClr val="0F1526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65176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8408" y="265176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stock entry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342900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8408" y="342900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logs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420624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78408" y="420624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&amp; staff status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36576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657600" y="1874520"/>
            <a:ext cx="2468880" cy="4206240"/>
          </a:xfrm>
          <a:prstGeom prst="roundRect">
            <a:avLst>
              <a:gd name="adj" fmla="val 3704"/>
            </a:avLst>
          </a:prstGeom>
          <a:solidFill>
            <a:srgbClr val="0F1526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187452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265176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50208" y="265176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0" y="342900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50208" y="342900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DB / Postgres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0480" y="420624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50208" y="420624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36576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629400" y="1874520"/>
            <a:ext cx="2468880" cy="4206240"/>
          </a:xfrm>
          <a:prstGeom prst="roundRect">
            <a:avLst>
              <a:gd name="adj" fmla="val 3704"/>
            </a:avLst>
          </a:prstGeom>
          <a:solidFill>
            <a:srgbClr val="0F1526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0" y="187452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2940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ENGINE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12280" y="265176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22008" y="265176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12280" y="342900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22008" y="342900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averaging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12280" y="420624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22008" y="420624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Redistribution engine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098280" y="36576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9601200" y="1874520"/>
            <a:ext cx="2468880" cy="4206240"/>
          </a:xfrm>
          <a:prstGeom prst="roundRect">
            <a:avLst>
              <a:gd name="adj" fmla="val 3704"/>
            </a:avLst>
          </a:prstGeom>
          <a:solidFill>
            <a:srgbClr val="0F1526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01200" y="187452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34D39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0120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784080" y="265176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893808" y="265176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overview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784080" y="342900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893808" y="342900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drill-down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784080" y="420624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893808" y="420624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approvals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containerized (Docker Compose) per nation · SQLite for demo, Postgres-ready for production · zero cross-border raw-data transfer.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Saylent — BRICS Track 3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Learning, Not Centralised Data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Saylent pools predictive power across districts and BRICS nations without moving a single patient record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131B2E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0" y="2788920"/>
            <a:ext cx="0" cy="502920"/>
          </a:xfrm>
          <a:prstGeom prst="line">
            <a:avLst/>
          </a:prstGeom>
          <a:noFill/>
          <a:ln w="19050">
            <a:solidFill>
              <a:srgbClr val="8B96A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971800" y="178308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131B2E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1783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86200" y="2788920"/>
            <a:ext cx="0" cy="502920"/>
          </a:xfrm>
          <a:prstGeom prst="line">
            <a:avLst/>
          </a:prstGeom>
          <a:noFill/>
          <a:ln w="19050">
            <a:solidFill>
              <a:srgbClr val="8B96A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212080" y="178308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131B2E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1783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788920"/>
            <a:ext cx="0" cy="502920"/>
          </a:xfrm>
          <a:prstGeom prst="line">
            <a:avLst/>
          </a:prstGeom>
          <a:noFill/>
          <a:ln w="19050">
            <a:solidFill>
              <a:srgbClr val="8B96A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743200" y="333756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2D3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43200" y="3337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 Aggregator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(weights only)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86200" y="4160520"/>
            <a:ext cx="0" cy="5029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466344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0F1526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23160" y="4663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Trend Model → blended back into every PHC's local forecast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6640" y="1783080"/>
            <a:ext cx="4160520" cy="3566160"/>
          </a:xfrm>
          <a:prstGeom prst="roundRect">
            <a:avLst>
              <a:gd name="adj" fmla="val 3077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809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crosses the boundary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808976" y="2496312"/>
            <a:ext cx="384048" cy="38404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08976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246888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(slope, intercept, sample count) — three numbers per medicine, per district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08976" y="3209544"/>
            <a:ext cx="384048" cy="38404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08976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318211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patient-level or raw stock/consumption records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808976" y="3922776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08976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389534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Sample-weighted averaging — sparse districts still contribute, without drowning out data-rich ones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808976" y="4636008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808976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66760" y="460857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round logged (FederatedModelRound) for full auditability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Saylent — BRICS Track 3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Dashboard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live-clickable prototype — not just a mockup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Overview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221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OCCUPANCY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68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48840" y="214884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2221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ALERTS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468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29000" y="214884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2221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468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09160" y="2148840"/>
            <a:ext cx="960120" cy="777240"/>
          </a:xfrm>
          <a:prstGeom prst="roundRect">
            <a:avLst>
              <a:gd name="adj" fmla="val 9412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22199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46888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0632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Belagavi — 53% stock health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33375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Bengaluru Rural — 54%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36118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Gaya — 61%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160020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Demand Forecast — Paracetamol</a:t>
            </a:r>
            <a:endParaRPr lang="en-US" sz="11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355080" y="2057400"/>
          <a:ext cx="50292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640080" y="41148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" y="42519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Feed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68680" y="466344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8680" y="46634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874520" y="46634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Anti-Malarial (ACT) at Bengaluru Rural PHC-3 — stockout in 5 days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68680" y="512064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68680" y="51206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874520" y="51206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occupancy at Patna PHC-2 — 93% capacity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68680" y="557784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68680" y="55778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1874520" y="5577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attendance at Nagpur PHC-1 — 67% of roster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172200" y="41148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00800" y="4251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Redistribution Recommendation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644652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 PHC-2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8275320" y="4800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248.4 units →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955548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Belagavi PHC-4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6446520" y="5257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Paracetamol 500mg · surplus at source vs. projected shortfall within lead time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6446520" y="566928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446520" y="56692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live demo published separately — click through national, district, alert, redistribution, and federated-learning views.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Saylent — BRICS Track 3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speed to national scale, transparency, and zero vendor lock-in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0F1526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51460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329184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329184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406908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PostgreSQL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0F1526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73736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74720" y="1737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0" y="251460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67328" y="251460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Holt trend model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0" y="329184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67328" y="329184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FedAvg aggregator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0" y="406908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67328" y="406908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redistribution solver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0F1526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73736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22D3E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09360" y="1737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251460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01968" y="251460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92240" y="329184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01968" y="329184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92240" y="406908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01968" y="406908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14400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0F1526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0" y="173736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34D39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144000" y="1737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326880" y="251460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436608" y="251460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326880" y="329184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436608" y="329184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OpenAPI/Swagger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326880" y="4069080"/>
            <a:ext cx="2240280" cy="594360"/>
          </a:xfrm>
          <a:prstGeom prst="roundRect">
            <a:avLst>
              <a:gd name="adj" fmla="val 10769"/>
            </a:avLst>
          </a:prstGeom>
          <a:solidFill>
            <a:srgbClr val="131B2E"/>
          </a:solidFill>
          <a:ln w="9525">
            <a:solidFill>
              <a:srgbClr val="1C274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436608" y="4069080"/>
            <a:ext cx="2020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CORS-enabled API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layers verified running end-to-end during development: seeded data → forecasts → alerts → redistribution recommendations → dashboard.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Saylent — BRICS Track 3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Forecast Actually Works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explainable math — not a black box a health officer has to trust blindly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08660" y="176022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08660" y="1760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trend fit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691640"/>
            <a:ext cx="1920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Holt's linear-trend smoothing on each PHC's own daily dispensed quantity — a level (today's typical use) plus a trend (rising/falling).</a:t>
            </a:r>
            <a:endParaRPr lang="en-US" sz="100" dirty="0"/>
          </a:p>
        </p:txBody>
      </p:sp>
      <p:sp>
        <p:nvSpPr>
          <p:cNvPr id="8" name="Shape 6"/>
          <p:cNvSpPr/>
          <p:nvPr/>
        </p:nvSpPr>
        <p:spPr>
          <a:xfrm>
            <a:off x="708660" y="2601468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8660" y="26014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5328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blend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532888"/>
            <a:ext cx="1920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district-level trend is combined with the FedAvg global trend (30% weight), so short-history PHCs borrow signal from the national pattern.</a:t>
            </a:r>
            <a:endParaRPr lang="en-US" sz="100" dirty="0"/>
          </a:p>
        </p:txBody>
      </p:sp>
      <p:sp>
        <p:nvSpPr>
          <p:cNvPr id="12" name="Shape 10"/>
          <p:cNvSpPr/>
          <p:nvPr/>
        </p:nvSpPr>
        <p:spPr>
          <a:xfrm>
            <a:off x="708660" y="3442716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8660" y="34427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374136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14-day projection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374136"/>
            <a:ext cx="1920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trend projects daily demand forward two weeks; cumulative demand is subtracted from current stock day-by-day.</a:t>
            </a:r>
            <a:endParaRPr lang="en-US" sz="100" dirty="0"/>
          </a:p>
        </p:txBody>
      </p:sp>
      <p:sp>
        <p:nvSpPr>
          <p:cNvPr id="16" name="Shape 14"/>
          <p:cNvSpPr/>
          <p:nvPr/>
        </p:nvSpPr>
        <p:spPr>
          <a:xfrm>
            <a:off x="708660" y="4283964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8660" y="42839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21538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Stockout date + alert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215384"/>
            <a:ext cx="1920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stock would first go negative becomes the predicted stockout date; if that falls inside the medicine's procurement lead time, an alert fires automatically.</a:t>
            </a:r>
            <a:endParaRPr lang="en-US" sz="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16916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Holt's linear-trend smoothing on each PHC's own daily dispensed quantity — a level (today's typical use) plus a trend (rising/falling).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253288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district-level trend is combined with the FedAvg global trend (30% weight), so short-history PHCs borrow signal from the national pattern.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337413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trend projects daily demand forward two weeks; cumulative demand is subtracted from current stock day-by-day.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21538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stock would first go negative becomes the predicted stockout date; if that falls inside the medicine's procurement lead time, an alert fires automatically.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23960" y="1508760"/>
            <a:ext cx="3108960" cy="3657600"/>
          </a:xfrm>
          <a:prstGeom prst="roundRect">
            <a:avLst>
              <a:gd name="adj" fmla="val 2941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1540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Insulin @ Belagavi PHC-2</a:t>
            </a:r>
            <a:endParaRPr lang="en-US" sz="95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9006840" y="1965960"/>
          <a:ext cx="2743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8915400" y="4846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stockout: Day 12 → alert fires (lead time 5d)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Saylent — BRICS Track 3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BRICS Scalability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a national platform from day one — not a single-district tool retrofitted later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0F152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→ 150,000+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PHCs the same schema and pipeline can scale to nationally, unchanged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474720" y="1737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0F152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1874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→ 5+ nations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5146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BRICS members onboard by standing up one more federated node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0F152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874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numbers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5146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medicine, per district — that's the entire cross-boundary data payload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0" y="1737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0F152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81160" y="1874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days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25146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visibility into demand, replacing reactive, after-the-fact procurement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federation matters for BRICS specifically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931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nation keeps full sovereignty over its own health data — a hard requirement across BRICS jurisdictions.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48056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4805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seasonal / epidemiological demand patterns (e.g. monsoon-driven disease spikes) improve every nation's forecast without a shared database.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502920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50292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FedAvg mechanism generalises from cross-district (this demo) to cross-nation with no architecture change.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Saylent — BRICS Track 3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prototype to a live, multi-nation resilience platform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3291840"/>
            <a:ext cx="10332720" cy="0"/>
          </a:xfrm>
          <a:prstGeom prst="line">
            <a:avLst/>
          </a:prstGeom>
          <a:noFill/>
          <a:ln w="25400">
            <a:solidFill>
              <a:srgbClr val="1C27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68830" y="3154680"/>
            <a:ext cx="274320" cy="274320"/>
          </a:xfrm>
          <a:prstGeom prst="ellipse">
            <a:avLst/>
          </a:prstGeom>
          <a:solidFill>
            <a:srgbClr val="22D3EE"/>
          </a:solidFill>
          <a:ln w="38100">
            <a:solidFill>
              <a:srgbClr val="05070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7270" y="187452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0F1526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871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Prototype (Now)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108710" y="22860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demo: forecasting, FedAvg, redistribution, dashboards — running on realistic mock PHC data.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05990" y="2926080"/>
            <a:ext cx="0" cy="365760"/>
          </a:xfrm>
          <a:prstGeom prst="line">
            <a:avLst/>
          </a:prstGeom>
          <a:noFill/>
          <a:ln w="12700">
            <a:solidFill>
              <a:srgbClr val="22D3E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652010" y="3154680"/>
            <a:ext cx="274320" cy="274320"/>
          </a:xfrm>
          <a:prstGeom prst="ellipse">
            <a:avLst/>
          </a:prstGeom>
          <a:solidFill>
            <a:srgbClr val="6366F1"/>
          </a:solidFill>
          <a:ln w="38100">
            <a:solidFill>
              <a:srgbClr val="05070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00450" y="365760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0F1526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9189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Single-State Pilot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691890" y="4069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1 state's real PHC reporting (manual entry app + CSV import), validate forecasts against real consumption.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89170" y="3291840"/>
            <a:ext cx="0" cy="365760"/>
          </a:xfrm>
          <a:prstGeom prst="line">
            <a:avLst/>
          </a:prstGeom>
          <a:noFill/>
          <a:ln w="12700">
            <a:solidFill>
              <a:srgbClr val="6366F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235190" y="3154680"/>
            <a:ext cx="274320" cy="27432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05070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83630" y="187452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0F1526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7507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National Rollout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75070" y="22860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nightly compute cycle; district health officer training; mobile reporting app for PHC staff.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72350" y="2926080"/>
            <a:ext cx="0" cy="36576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818370" y="3154680"/>
            <a:ext cx="274320" cy="274320"/>
          </a:xfrm>
          <a:prstGeom prst="ellipse">
            <a:avLst/>
          </a:prstGeom>
          <a:solidFill>
            <a:srgbClr val="34D399"/>
          </a:solidFill>
          <a:ln w="38100">
            <a:solidFill>
              <a:srgbClr val="05070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66810" y="365760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0F1526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5825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— Cross-BRICS Federation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858250" y="4069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nation runs its own instance; shared FedAvg aggregator endpoint; joint epidemiological early-warning.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955530" y="3291840"/>
            <a:ext cx="0" cy="365760"/>
          </a:xfrm>
          <a:prstGeom prst="line">
            <a:avLst/>
          </a:prstGeom>
          <a:noFill/>
          <a:ln w="12700">
            <a:solidFill>
              <a:srgbClr val="34D399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Saylent — BRICS Track 3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&amp; Governance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supply decisions stay human-approved — the AI recommends, it never acts alone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" y="203454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1540" y="2034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060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redistribution recommendation requires explicit district-officer approval before any stock is moved — no autonomous transfers.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3660" y="203454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23660" y="2034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sovereignty by design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060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PHC records never leave their district database; only aggregated model weights are exchanged, satisfying cross-nation data-residency rules.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" y="42291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1540" y="4229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auditability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8006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federated round is logged (medicine, districts involved, resulting global model) so any forecast can be traced and explained.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97764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0F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3660" y="4229100"/>
            <a:ext cx="502920" cy="50292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23660" y="4229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methodology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8006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Holt's trend model and greedy matching were chosen because they can be explained in one sentence to a non-technical health administrator — no unexplainable black boxes.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Saylent — BRICS Track 3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011680"/>
            <a:ext cx="5486400" cy="54864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840480"/>
            <a:ext cx="5029200" cy="50292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20116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80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Saylent</a:t>
            </a:r>
            <a:pPr indent="0" marL="0">
              <a:buNone/>
            </a:pPr>
            <a:r>
              <a:rPr lang="en-US" sz="16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federated AI for national health supply chain resilience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3840480" cy="0"/>
          </a:xfrm>
          <a:prstGeom prst="line">
            <a:avLst/>
          </a:prstGeom>
          <a:noFill/>
          <a:ln w="12700">
            <a:solidFill>
              <a:srgbClr val="1C27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·  [Add member names]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34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github.com/yash-yb/saylent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937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4937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Saylent interactive demo (see submission notes)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440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5440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BRICS Hackathon 2026 · Track 3 · Smart Health &amp; Supply Chain Resilience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2026-09-29T08:11:32Z</dcterms:created>
  <dcterms:modified xsi:type="dcterms:W3CDTF">2026-09-29T08:11:32Z</dcterms:modified>
</cp:coreProperties>
</file>